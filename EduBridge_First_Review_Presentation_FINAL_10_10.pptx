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AFD2E6"/>
                </a:solidFill>
                <a:latin typeface="Aptos"/>
              </a:defRPr>
            </a:pPr>
            <a:r>
              <a:t>DEPARTMENT OF COMPUTER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8229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EduBridge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331720"/>
            <a:ext cx="8229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ptos"/>
              </a:defRPr>
            </a:pPr>
            <a:r>
              <a:t>A Peer-to-Peer Academic Doubt Solving</a:t>
            </a:r>
            <a:br/>
            <a:r>
              <a:t>and Student Tutoring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977639"/>
            <a:ext cx="73152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0">
                <a:solidFill>
                  <a:srgbClr val="CDE1EE"/>
                </a:solidFill>
                <a:latin typeface="Aptos"/>
              </a:defRPr>
            </a:pPr>
            <a:r>
              <a:t>Students helping students — online and offline,</a:t>
            </a:r>
            <a:br/>
            <a:r>
              <a:t>within the college.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21208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Cibin Vincent  |  MCA &amp; FIT25MCA-2028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577840"/>
            <a:ext cx="4572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CDE1EE"/>
                </a:solidFill>
                <a:latin typeface="Aptos"/>
              </a:defRPr>
            </a:pPr>
            <a:r>
              <a:t>Project Guide: Ms. Senu Abi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126480"/>
            <a:ext cx="2286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FIRST REVIEW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572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667382"/>
                </a:solidFill>
                <a:latin typeface="Aptos"/>
              </a:defRPr>
            </a:pPr>
            <a:r>
              <a:t>EDUBRIDGE • 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700" b="1">
                <a:solidFill>
                  <a:srgbClr val="112B4E"/>
                </a:solidFill>
                <a:latin typeface="Aptos"/>
              </a:defRPr>
            </a:pPr>
            <a:r>
              <a:t>Problem Statement &amp; Relevance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51560"/>
            <a:ext cx="10789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667382"/>
                </a:solidFill>
                <a:latin typeface="Aptos"/>
              </a:defRPr>
            </a:pPr>
            <a:r>
              <a:t>Why a college-specific peer learning platform is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1">
                <a:solidFill>
                  <a:srgbClr val="6673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36576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667382"/>
                </a:solidFill>
                <a:latin typeface="Aptos"/>
              </a:defRPr>
            </a:pPr>
            <a:r>
              <a:t>Cibin Vincent • FIT25MCA-2028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00200"/>
            <a:ext cx="3429000" cy="370332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00200"/>
            <a:ext cx="64008" cy="3703320"/>
          </a:xfrm>
          <a:prstGeom prst="rect">
            <a:avLst/>
          </a:prstGeom>
          <a:solidFill>
            <a:srgbClr val="26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64792"/>
            <a:ext cx="30632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Academic Doubts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212848"/>
            <a:ext cx="3044952" cy="29535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Students often face unresolved doubts, especially while preparing for university examinations.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00200"/>
            <a:ext cx="3429000" cy="370332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600200"/>
            <a:ext cx="64008" cy="3703320"/>
          </a:xfrm>
          <a:prstGeom prst="rect">
            <a:avLst/>
          </a:prstGeom>
          <a:solidFill>
            <a:srgbClr val="37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764792"/>
            <a:ext cx="30632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Available 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212848"/>
            <a:ext cx="3044952" cy="29535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Many students in the same college already have clarity in those topics, but there is no structured way to discover and connect with them.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600200"/>
            <a:ext cx="3429000" cy="370332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600200"/>
            <a:ext cx="64008" cy="370332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1764792"/>
            <a:ext cx="30632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Current Limitation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212848"/>
            <a:ext cx="3044952" cy="29535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Students depend on messaging groups or personal contacts. Doubts, tutor availability and offline sessions are difficult to organize and track.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600" b="1">
                <a:solidFill>
                  <a:srgbClr val="112B4E"/>
                </a:solidFill>
                <a:latin typeface="Aptos"/>
              </a:defRPr>
            </a:pPr>
            <a:r>
              <a:t>Problem to solve: connect the student who needs help with the student who can help.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572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667382"/>
                </a:solidFill>
                <a:latin typeface="Aptos"/>
              </a:defRPr>
            </a:pPr>
            <a:r>
              <a:t>EDUBRIDGE • 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700" b="1">
                <a:solidFill>
                  <a:srgbClr val="112B4E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51560"/>
            <a:ext cx="10789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667382"/>
                </a:solidFill>
                <a:latin typeface="Aptos"/>
              </a:defRPr>
            </a:pPr>
            <a:r>
              <a:t>EduBridge makes peer learning structured, searchable and campus-focused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1">
                <a:solidFill>
                  <a:srgbClr val="6673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36576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667382"/>
                </a:solidFill>
                <a:latin typeface="Aptos"/>
              </a:defRPr>
            </a:pPr>
            <a:r>
              <a:t>Cibin Vincent • FIT25MCA-2028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3429000" cy="429768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64008" cy="4297680"/>
          </a:xfrm>
          <a:prstGeom prst="rect">
            <a:avLst/>
          </a:prstGeom>
          <a:solidFill>
            <a:srgbClr val="26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19072"/>
            <a:ext cx="30632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1 • 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67128"/>
            <a:ext cx="3044952" cy="3547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A student posts a subject/topic-based doubt with a description or supporting material.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54480"/>
            <a:ext cx="3429000" cy="429768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554480"/>
            <a:ext cx="64008" cy="4297680"/>
          </a:xfrm>
          <a:prstGeom prst="rect">
            <a:avLst/>
          </a:prstGeom>
          <a:solidFill>
            <a:srgbClr val="37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719072"/>
            <a:ext cx="30632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2 • CONNECT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167128"/>
            <a:ext cx="3044952" cy="3547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The student can receive peer answers or discover a verified student tutor based on expertise and availability.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54480"/>
            <a:ext cx="3429000" cy="429768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554480"/>
            <a:ext cx="64008" cy="4297680"/>
          </a:xfrm>
          <a:prstGeom prst="rect">
            <a:avLst/>
          </a:prstGeom>
          <a:solidFill>
            <a:srgbClr val="2E8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1719072"/>
            <a:ext cx="30632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3 • 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167128"/>
            <a:ext cx="3044952" cy="3547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The tutor accepts a request and the students arrange an online or offline session at a suitable campus location.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080760"/>
            <a:ext cx="103327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400" b="1">
                <a:solidFill>
                  <a:srgbClr val="112B4E"/>
                </a:solidFill>
                <a:latin typeface="Aptos"/>
              </a:defRPr>
            </a:pPr>
            <a:r>
              <a:t>Core principle: Every student can be both a learner and a peer tutor.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572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667382"/>
                </a:solidFill>
                <a:latin typeface="Aptos"/>
              </a:defRPr>
            </a:pPr>
            <a:r>
              <a:t>EDUBRIDGE • 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700" b="1">
                <a:solidFill>
                  <a:srgbClr val="112B4E"/>
                </a:solidFill>
                <a:latin typeface="Aptos"/>
              </a:defRPr>
            </a:pPr>
            <a:r>
              <a:t>Objectives &amp; Target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51560"/>
            <a:ext cx="10789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667382"/>
                </a:solidFill>
                <a:latin typeface="Aptos"/>
              </a:defRPr>
            </a:pPr>
            <a:r>
              <a:t>A focused scope suitable for an MCA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1">
                <a:solidFill>
                  <a:srgbClr val="6673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36576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667382"/>
                </a:solidFill>
                <a:latin typeface="Aptos"/>
              </a:defRPr>
            </a:pPr>
            <a:r>
              <a:t>Cibin Vincent • FIT25MCA-2028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5257800" cy="448056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08760"/>
            <a:ext cx="64008" cy="4480560"/>
          </a:xfrm>
          <a:prstGeom prst="rect">
            <a:avLst/>
          </a:prstGeom>
          <a:solidFill>
            <a:srgbClr val="26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673351"/>
            <a:ext cx="48920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21408"/>
            <a:ext cx="4873752" cy="37307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• Centralize academic doubt solving.</a:t>
            </a:r>
            <a:br/>
            <a:r>
              <a:t>• Encourage peer-to-peer knowledge sharing.</a:t>
            </a:r>
            <a:br/>
            <a:r>
              <a:t>• Help students discover suitable peer tutors.</a:t>
            </a:r>
            <a:br/>
            <a:r>
              <a:t>• Enable structured offline tutoring within campus.</a:t>
            </a:r>
            <a:br/>
            <a:r>
              <a:t>• Maintain a searchable repository of solved doubts.</a:t>
            </a:r>
            <a:br/>
            <a:r>
              <a:t>• Recognize helpful students through ratings and reputation.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08760"/>
            <a:ext cx="5257800" cy="448056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508760"/>
            <a:ext cx="64008" cy="4480560"/>
          </a:xfrm>
          <a:prstGeom prst="rect">
            <a:avLst/>
          </a:prstGeom>
          <a:solidFill>
            <a:srgbClr val="2E8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1673351"/>
            <a:ext cx="48920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Target Users &amp;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121408"/>
            <a:ext cx="4873752" cy="37307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LEARNER</a:t>
            </a:r>
            <a:br/>
            <a:r>
              <a:t>Posts doubts, searches answers and requests tutoring.</a:t>
            </a:r>
            <a:br/>
            <a:br/>
            <a:r>
              <a:t>PEER TUTOR</a:t>
            </a:r>
            <a:br/>
            <a:r>
              <a:t>A verified college student who can help in selected subjects/topics.</a:t>
            </a:r>
            <a:br/>
            <a:br/>
            <a:r>
              <a:t>ADMIN</a:t>
            </a:r>
            <a:br/>
            <a:r>
              <a:t>Manages users, subjects, reports and platform content.</a:t>
            </a:r>
            <a:br/>
            <a:br/>
            <a:r>
              <a:t>A student may use both Learner and Peer Tutor roles.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572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667382"/>
                </a:solidFill>
                <a:latin typeface="Aptos"/>
              </a:defRPr>
            </a:pPr>
            <a:r>
              <a:t>EDUBRIDGE • 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700" b="1">
                <a:solidFill>
                  <a:srgbClr val="112B4E"/>
                </a:solidFill>
                <a:latin typeface="Aptos"/>
              </a:defRPr>
            </a:pPr>
            <a:r>
              <a:t>Existing System vs Proposed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51560"/>
            <a:ext cx="10789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667382"/>
                </a:solidFill>
                <a:latin typeface="Aptos"/>
              </a:defRPr>
            </a:pPr>
            <a:r>
              <a:t>What changes with EduBridge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1">
                <a:solidFill>
                  <a:srgbClr val="6673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36576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667382"/>
                </a:solidFill>
                <a:latin typeface="Aptos"/>
              </a:defRPr>
            </a:pPr>
            <a:r>
              <a:t>Cibin Vincent • FIT25MCA-2028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57800" cy="452628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64008" cy="4526280"/>
          </a:xfrm>
          <a:prstGeom prst="rect">
            <a:avLst/>
          </a:prstGeom>
          <a:solidFill>
            <a:srgbClr val="C2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19072"/>
            <a:ext cx="48920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Existing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67128"/>
            <a:ext cx="4873752" cy="3776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• Informal messaging groups</a:t>
            </a:r>
            <a:br/>
            <a:r>
              <a:t>• Personal contacts</a:t>
            </a:r>
            <a:br/>
            <a:r>
              <a:t>• Questions get buried in chats</a:t>
            </a:r>
            <a:br/>
            <a:r>
              <a:t>• No structured tutor discovery</a:t>
            </a:r>
            <a:br/>
            <a:r>
              <a:t>• Tutor availability is unclear</a:t>
            </a:r>
            <a:br/>
            <a:r>
              <a:t>• No consistent feedback/reputation</a:t>
            </a:r>
            <a:br/>
            <a:r>
              <a:t>• Offline meetings are difficult to coordinate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54480"/>
            <a:ext cx="5257800" cy="452628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554480"/>
            <a:ext cx="64008" cy="4526280"/>
          </a:xfrm>
          <a:prstGeom prst="rect">
            <a:avLst/>
          </a:prstGeom>
          <a:solidFill>
            <a:srgbClr val="2E8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1719072"/>
            <a:ext cx="48920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Proposed — EduBridge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167128"/>
            <a:ext cx="4873752" cy="3776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• Centralized campus platform</a:t>
            </a:r>
            <a:br/>
            <a:r>
              <a:t>• Subject/topic-wise doubts</a:t>
            </a:r>
            <a:br/>
            <a:r>
              <a:t>• Searchable solved questions</a:t>
            </a:r>
            <a:br/>
            <a:r>
              <a:t>• Verified peer tutor discovery</a:t>
            </a:r>
            <a:br/>
            <a:r>
              <a:t>• Availability-based matching</a:t>
            </a:r>
            <a:br/>
            <a:r>
              <a:t>• Ratings and reputation</a:t>
            </a:r>
            <a:br/>
            <a:r>
              <a:t>• Request → accept → schedule → offline session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572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667382"/>
                </a:solidFill>
                <a:latin typeface="Aptos"/>
              </a:defRPr>
            </a:pPr>
            <a:r>
              <a:t>EDUBRIDGE • 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700" b="1">
                <a:solidFill>
                  <a:srgbClr val="112B4E"/>
                </a:solidFill>
                <a:latin typeface="Aptos"/>
              </a:defRPr>
            </a:pPr>
            <a:r>
              <a:t>System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51560"/>
            <a:ext cx="10789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667382"/>
                </a:solidFill>
                <a:latin typeface="Aptos"/>
              </a:defRPr>
            </a:pPr>
            <a:r>
              <a:t>Core functional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1">
                <a:solidFill>
                  <a:srgbClr val="6673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36576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667382"/>
                </a:solidFill>
                <a:latin typeface="Aptos"/>
              </a:defRPr>
            </a:pPr>
            <a:r>
              <a:t>Cibin Vincent • FIT25MCA-2028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5257800" cy="100584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64008" cy="1005840"/>
          </a:xfrm>
          <a:prstGeom prst="rect">
            <a:avLst/>
          </a:prstGeom>
          <a:solidFill>
            <a:srgbClr val="26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581912"/>
            <a:ext cx="48920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1  Authentication &amp;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029968"/>
            <a:ext cx="4873752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College verification, login, profile, semester and expertise.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5257800" cy="100584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64008" cy="1005840"/>
          </a:xfrm>
          <a:prstGeom prst="rect">
            <a:avLst/>
          </a:prstGeom>
          <a:solidFill>
            <a:srgbClr val="37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581912"/>
            <a:ext cx="48920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2  Doubt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029968"/>
            <a:ext cx="4873752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Create, view, search, update and resolve doubts.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624328"/>
            <a:ext cx="5257800" cy="100584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624328"/>
            <a:ext cx="64008" cy="1005840"/>
          </a:xfrm>
          <a:prstGeom prst="rect">
            <a:avLst/>
          </a:prstGeom>
          <a:solidFill>
            <a:srgbClr val="2E8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788920"/>
            <a:ext cx="48920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3  Peer Answer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236976"/>
            <a:ext cx="4873752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Answers, replies, upvotes and accepted answers.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624328"/>
            <a:ext cx="5257800" cy="100584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624328"/>
            <a:ext cx="64008" cy="100584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2788920"/>
            <a:ext cx="48920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4  Peer Tutor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3236976"/>
            <a:ext cx="4873752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Expertise, availability, tutor profile and discovery.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831336"/>
            <a:ext cx="5257800" cy="100584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831336"/>
            <a:ext cx="64008" cy="1005840"/>
          </a:xfrm>
          <a:prstGeom prst="rect">
            <a:avLst/>
          </a:prstGeom>
          <a:solidFill>
            <a:srgbClr val="26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3995928"/>
            <a:ext cx="48920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5  Offline Tutoring &amp; Booking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4443984"/>
            <a:ext cx="4873752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Request, accept/reject, schedule, location and completion.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831336"/>
            <a:ext cx="5257800" cy="100584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831336"/>
            <a:ext cx="64008" cy="1005840"/>
          </a:xfrm>
          <a:prstGeom prst="rect">
            <a:avLst/>
          </a:prstGeom>
          <a:solidFill>
            <a:srgbClr val="37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3995928"/>
            <a:ext cx="48920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6  Chat &amp; Notifications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4443984"/>
            <a:ext cx="4873752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Real-time communication and alerts.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038344"/>
            <a:ext cx="5257800" cy="100584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5038344"/>
            <a:ext cx="64008" cy="1005840"/>
          </a:xfrm>
          <a:prstGeom prst="rect">
            <a:avLst/>
          </a:prstGeom>
          <a:solidFill>
            <a:srgbClr val="2E8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5202936"/>
            <a:ext cx="48920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7  Resources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" y="5650992"/>
            <a:ext cx="4873752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Notes, PDFs and previous-year study materials.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5038344"/>
            <a:ext cx="5257800" cy="100584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5038344"/>
            <a:ext cx="64008" cy="100584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64808" y="5202936"/>
            <a:ext cx="48920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8  Ratings, Reputation &amp; Admin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4808" y="5650992"/>
            <a:ext cx="4873752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Feedback, points, badges, reports and administration.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572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667382"/>
                </a:solidFill>
                <a:latin typeface="Aptos"/>
              </a:defRPr>
            </a:pPr>
            <a:r>
              <a:t>EDUBRIDGE • 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700" b="1">
                <a:solidFill>
                  <a:srgbClr val="112B4E"/>
                </a:solidFill>
                <a:latin typeface="Aptos"/>
              </a:defRPr>
            </a:pPr>
            <a:r>
              <a:t>Detailed System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51560"/>
            <a:ext cx="10789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667382"/>
                </a:solidFill>
                <a:latin typeface="Aptos"/>
              </a:defRPr>
            </a:pPr>
            <a:r>
              <a:t>Complete learner-to-tutor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1">
                <a:solidFill>
                  <a:srgbClr val="66738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36576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667382"/>
                </a:solidFill>
                <a:latin typeface="Aptos"/>
              </a:defRPr>
            </a:pPr>
            <a:r>
              <a:t>Cibin Vincent • FIT25MCA-2028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2578608" cy="150876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64008" cy="1508760"/>
          </a:xfrm>
          <a:prstGeom prst="rect">
            <a:avLst/>
          </a:prstGeom>
          <a:solidFill>
            <a:srgbClr val="26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19072"/>
            <a:ext cx="2212848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167128"/>
            <a:ext cx="2194560" cy="758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College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719072"/>
            <a:ext cx="4114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2663B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554480"/>
            <a:ext cx="2578608" cy="150876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554480"/>
            <a:ext cx="64008" cy="1508760"/>
          </a:xfrm>
          <a:prstGeom prst="rect">
            <a:avLst/>
          </a:prstGeom>
          <a:solidFill>
            <a:srgbClr val="37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1719072"/>
            <a:ext cx="2212848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2167128"/>
            <a:ext cx="2194560" cy="758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Subjects + availability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1719072"/>
            <a:ext cx="4114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37AA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1554480"/>
            <a:ext cx="2578608" cy="150876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1554480"/>
            <a:ext cx="64008" cy="1508760"/>
          </a:xfrm>
          <a:prstGeom prst="rect">
            <a:avLst/>
          </a:prstGeom>
          <a:solidFill>
            <a:srgbClr val="2E8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7" y="1719072"/>
            <a:ext cx="2212848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7" y="2167128"/>
            <a:ext cx="2194560" cy="758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Post academic doubt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1719072"/>
            <a:ext cx="4114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2E8C6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19" y="1554480"/>
            <a:ext cx="2578608" cy="150876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19" y="1554480"/>
            <a:ext cx="64008" cy="150876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90888" y="1719072"/>
            <a:ext cx="2212848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0888" y="2167128"/>
            <a:ext cx="2194560" cy="758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Find peer tutor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0888" y="1719072"/>
            <a:ext cx="4114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E0A63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794760"/>
            <a:ext cx="2578608" cy="150876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794760"/>
            <a:ext cx="64008" cy="1508760"/>
          </a:xfrm>
          <a:prstGeom prst="rect">
            <a:avLst/>
          </a:prstGeom>
          <a:solidFill>
            <a:srgbClr val="26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959352"/>
            <a:ext cx="2212848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4407408"/>
            <a:ext cx="2194560" cy="758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Send tutoring request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3959352"/>
            <a:ext cx="4114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2663B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29000" y="3794760"/>
            <a:ext cx="2578608" cy="150876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29000" y="3794760"/>
            <a:ext cx="64008" cy="1508760"/>
          </a:xfrm>
          <a:prstGeom prst="rect">
            <a:avLst/>
          </a:prstGeom>
          <a:solidFill>
            <a:srgbClr val="37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30168" y="3959352"/>
            <a:ext cx="2212848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Accept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30168" y="4407408"/>
            <a:ext cx="2194560" cy="758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Tutor accepts/rejects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30168" y="3959352"/>
            <a:ext cx="4114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37AA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59" y="3794760"/>
            <a:ext cx="2578608" cy="150876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59" y="3794760"/>
            <a:ext cx="64008" cy="1508760"/>
          </a:xfrm>
          <a:prstGeom prst="rect">
            <a:avLst/>
          </a:prstGeom>
          <a:solidFill>
            <a:srgbClr val="2E8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7" y="3959352"/>
            <a:ext cx="2212848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Schedule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0527" y="4407408"/>
            <a:ext cx="2194560" cy="758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Date + time + campus location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0528" y="3959352"/>
            <a:ext cx="4114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2E8C6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89719" y="3794760"/>
            <a:ext cx="2578608" cy="150876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89719" y="3794760"/>
            <a:ext cx="64008" cy="150876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90888" y="3959352"/>
            <a:ext cx="2212848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Learn &amp; Review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90888" y="4407408"/>
            <a:ext cx="2194560" cy="7589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Session + rating + reputation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90888" y="3959352"/>
            <a:ext cx="4114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E0A637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572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667382"/>
                </a:solidFill>
                <a:latin typeface="Aptos"/>
              </a:defRPr>
            </a:pPr>
            <a:r>
              <a:t>EDUBRIDGE • 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700" b="1">
                <a:solidFill>
                  <a:srgbClr val="112B4E"/>
                </a:solidFill>
                <a:latin typeface="Aptos"/>
              </a:defRPr>
            </a:pPr>
            <a:r>
              <a:t>System Architecture &amp;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51560"/>
            <a:ext cx="10789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667382"/>
                </a:solidFill>
                <a:latin typeface="Aptos"/>
              </a:defRPr>
            </a:pPr>
            <a:r>
              <a:t>Secure full-stack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1">
                <a:solidFill>
                  <a:srgbClr val="66738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36576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667382"/>
                </a:solidFill>
                <a:latin typeface="Aptos"/>
              </a:defRPr>
            </a:pPr>
            <a:r>
              <a:t>Cibin Vincent • FIT25MCA-2028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417320"/>
            <a:ext cx="10332720" cy="91440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417320"/>
            <a:ext cx="64008" cy="914400"/>
          </a:xfrm>
          <a:prstGeom prst="rect">
            <a:avLst/>
          </a:prstGeom>
          <a:solidFill>
            <a:srgbClr val="26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1581912"/>
            <a:ext cx="99669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Presentation Layer —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029968"/>
            <a:ext cx="9948672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React.js • HTML5 • CSS3 • JavaScript • Tailwind CSS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560320"/>
            <a:ext cx="10332720" cy="91440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2560320"/>
            <a:ext cx="64008" cy="914400"/>
          </a:xfrm>
          <a:prstGeom prst="rect">
            <a:avLst/>
          </a:prstGeom>
          <a:solidFill>
            <a:srgbClr val="37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2724912"/>
            <a:ext cx="99669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Application Layer —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172968"/>
            <a:ext cx="9948672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Node.js • Express.js • REST APIs • JWT Authentication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703320"/>
            <a:ext cx="10332720" cy="91440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703320"/>
            <a:ext cx="64008" cy="914400"/>
          </a:xfrm>
          <a:prstGeom prst="rect">
            <a:avLst/>
          </a:prstGeom>
          <a:solidFill>
            <a:srgbClr val="2E8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3867911"/>
            <a:ext cx="99669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Data Layer —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315968"/>
            <a:ext cx="9948672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MongoDB • Users • Doubts • Answers • Tutors • Bookings • Ratings • Resources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846320"/>
            <a:ext cx="10332720" cy="91440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846320"/>
            <a:ext cx="64008" cy="91440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5010912"/>
            <a:ext cx="99669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Communication, Version Control &amp;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458968"/>
            <a:ext cx="9948672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Socket.IO • Git • GitHub • Vercel / Render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572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667382"/>
                </a:solidFill>
                <a:latin typeface="Aptos"/>
              </a:defRPr>
            </a:pPr>
            <a:r>
              <a:t>EDUBRIDGE • 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700" b="1">
                <a:solidFill>
                  <a:srgbClr val="112B4E"/>
                </a:solidFill>
                <a:latin typeface="Aptos"/>
              </a:defRPr>
            </a:pPr>
            <a:r>
              <a:t>Key Features &amp; Expected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51560"/>
            <a:ext cx="10789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667382"/>
                </a:solidFill>
                <a:latin typeface="Aptos"/>
              </a:defRPr>
            </a:pPr>
            <a:r>
              <a:t>Features directly connected to the identified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1">
                <a:solidFill>
                  <a:srgbClr val="66738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36576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667382"/>
                </a:solidFill>
                <a:latin typeface="Aptos"/>
              </a:defRPr>
            </a:pPr>
            <a:r>
              <a:t>Cibin Vincent • FIT25MCA-2028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63040"/>
            <a:ext cx="5303520" cy="457200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63040"/>
            <a:ext cx="64008" cy="4572000"/>
          </a:xfrm>
          <a:prstGeom prst="rect">
            <a:avLst/>
          </a:prstGeom>
          <a:solidFill>
            <a:srgbClr val="26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627632"/>
            <a:ext cx="4937759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Key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075688"/>
            <a:ext cx="4919472" cy="382219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• Verified college students as peer tutors</a:t>
            </a:r>
            <a:br/>
            <a:r>
              <a:t>• Subject/topic-wise doubt solving</a:t>
            </a:r>
            <a:br/>
            <a:r>
              <a:t>• Search for solved doubts</a:t>
            </a:r>
            <a:br/>
            <a:r>
              <a:t>• Tutor discovery by expertise &amp; availability</a:t>
            </a:r>
            <a:br/>
            <a:r>
              <a:t>• Offline campus tutoring &amp; booking</a:t>
            </a:r>
            <a:br/>
            <a:r>
              <a:t>• Ratings, feedback and reputation</a:t>
            </a:r>
            <a:br/>
            <a:r>
              <a:t>• Chat and notifications</a:t>
            </a:r>
            <a:br/>
            <a:r>
              <a:t>• Academic resource sharing</a:t>
            </a:r>
            <a:br/>
            <a:r>
              <a:t>• Admin monitoring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63040"/>
            <a:ext cx="5303520" cy="457200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463040"/>
            <a:ext cx="64008" cy="4572000"/>
          </a:xfrm>
          <a:prstGeom prst="rect">
            <a:avLst/>
          </a:prstGeom>
          <a:solidFill>
            <a:srgbClr val="2E8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1627632"/>
            <a:ext cx="4937759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Expected Outcomes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075688"/>
            <a:ext cx="4919472" cy="382219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• Faster resolution of academic doubts</a:t>
            </a:r>
            <a:br/>
            <a:r>
              <a:t>• Improved peer-to-peer learning</a:t>
            </a:r>
            <a:br/>
            <a:r>
              <a:t>• Greater knowledge sharing</a:t>
            </a:r>
            <a:br/>
            <a:r>
              <a:t>• Organized offline academic support</a:t>
            </a:r>
            <a:br/>
            <a:r>
              <a:t>• Reusable repository of solved doubts</a:t>
            </a:r>
            <a:br/>
            <a:r>
              <a:t>• Recognition for helpful peer tutors</a:t>
            </a:r>
            <a:br/>
            <a:r>
              <a:t>• Stronger academic community</a:t>
            </a:r>
            <a:br/>
            <a:br/>
            <a:r>
              <a:t>Success indicator: students can find help from a suitable peer without relying on informal contacts.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572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667382"/>
                </a:solidFill>
                <a:latin typeface="Aptos"/>
              </a:defRPr>
            </a:pPr>
            <a:r>
              <a:t>EDUBRIDGE • 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700" b="1">
                <a:solidFill>
                  <a:srgbClr val="112B4E"/>
                </a:solidFill>
                <a:latin typeface="Aptos"/>
              </a:defRPr>
            </a:pPr>
            <a:r>
              <a:t>Future Scope &amp;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51560"/>
            <a:ext cx="10789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667382"/>
                </a:solidFill>
                <a:latin typeface="Aptos"/>
              </a:defRPr>
            </a:pPr>
            <a:r>
              <a:t>Keep the first version focused; expand after successful core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1">
                <a:solidFill>
                  <a:srgbClr val="6673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36576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667382"/>
                </a:solidFill>
                <a:latin typeface="Aptos"/>
              </a:defRPr>
            </a:pPr>
            <a:r>
              <a:t>Cibin Vincent • FIT25MCA-2028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5257800" cy="429768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64008" cy="429768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581912"/>
            <a:ext cx="48920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029968"/>
            <a:ext cx="4873752" cy="3547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• AI-assisted doubt hints</a:t>
            </a:r>
            <a:br/>
            <a:r>
              <a:t>• OCR for handwritten questions</a:t>
            </a:r>
            <a:br/>
            <a:r>
              <a:t>• Video tutoring</a:t>
            </a:r>
            <a:br/>
            <a:r>
              <a:t>• Faculty-recommended tutors</a:t>
            </a:r>
            <a:br/>
            <a:r>
              <a:t>• Mobile application</a:t>
            </a:r>
            <a:br/>
            <a:r>
              <a:t>• Advanced tutor matching</a:t>
            </a:r>
            <a:br/>
            <a:r>
              <a:t>• College LMS integration</a:t>
            </a:r>
            <a:br/>
            <a:r>
              <a:t>• Expansion to multiple colleges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5257800" cy="4297680"/>
          </a:xfrm>
          <a:prstGeom prst="roundRect">
            <a:avLst/>
          </a:prstGeom>
          <a:solidFill>
            <a:srgbClr val="F4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64008" cy="4297680"/>
          </a:xfrm>
          <a:prstGeom prst="rect">
            <a:avLst/>
          </a:prstGeom>
          <a:solidFill>
            <a:srgbClr val="26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1581912"/>
            <a:ext cx="48920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12B4E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029968"/>
            <a:ext cx="4873752" cy="3547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Domain references:</a:t>
            </a:r>
            <a:br/>
            <a:r>
              <a:t>• Research on peer-to-peer and collaborative learning</a:t>
            </a:r>
            <a:br/>
            <a:r>
              <a:t>• Academic tutoring / mentoring studies</a:t>
            </a:r>
            <a:br/>
            <a:br/>
            <a:r>
              <a:t>Technology documentation:</a:t>
            </a:r>
            <a:br/>
            <a:r>
              <a:t>• React.js</a:t>
            </a:r>
            <a:br/>
            <a:r>
              <a:t>• Node.js &amp; Express.js</a:t>
            </a:r>
            <a:br/>
            <a:r>
              <a:t>• MongoDB</a:t>
            </a:r>
            <a:br/>
            <a:r>
              <a:t>• Socket.IO</a:t>
            </a:r>
            <a:br/>
            <a:r>
              <a:t>• JWT</a:t>
            </a:r>
            <a:br/>
            <a:r>
              <a:t>• Git &amp; GitHub</a:t>
            </a:r>
            <a:br/>
            <a:br/>
            <a:r>
              <a:t>Use the exact sources actually consulted in the final submission.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080760"/>
            <a:ext cx="103327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200" b="1">
                <a:solidFill>
                  <a:srgbClr val="112B4E"/>
                </a:solidFill>
                <a:latin typeface="Aptos"/>
              </a:defRPr>
            </a:pPr>
            <a:r>
              <a:t>EduBridge  |  Learn from peers • Share knowledge • Build a stronger campus learning community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